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06040"/>
            <a:ext cx="12188952" cy="5486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703320"/>
            <a:ext cx="12188952" cy="5486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11480"/>
            <a:ext cx="121889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BLUESTOCK FINTECH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37160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>
                <a:solidFill>
                  <a:srgbClr val="B0C4DE"/>
                </a:solidFill>
              </a:rPr>
              <a:t>Mutual Fund Analytics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96596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End-to-End Data Engineering  ·  ETL Pipeline  ·  Interactive Dashboard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880360"/>
            <a:ext cx="2743200" cy="1005840"/>
          </a:xfrm>
          <a:prstGeom prst="rect">
            <a:avLst/>
          </a:prstGeom>
          <a:solidFill>
            <a:srgbClr val="0D2137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9718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565C0"/>
                </a:solidFill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930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Fund Schemes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39" y="2880360"/>
            <a:ext cx="2743200" cy="1005840"/>
          </a:xfrm>
          <a:prstGeom prst="rect">
            <a:avLst/>
          </a:prstGeom>
          <a:solidFill>
            <a:srgbClr val="0D2137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39" y="29718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565C0"/>
                </a:solidFill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39" y="34930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Datasets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2880360"/>
            <a:ext cx="2743200" cy="1005840"/>
          </a:xfrm>
          <a:prstGeom prst="rect">
            <a:avLst/>
          </a:prstGeom>
          <a:solidFill>
            <a:srgbClr val="0D2137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9718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565C0"/>
                </a:solidFill>
              </a:rPr>
              <a:t>88K+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34930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Rows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23959" y="2880360"/>
            <a:ext cx="2743200" cy="1005840"/>
          </a:xfrm>
          <a:prstGeom prst="rect">
            <a:avLst/>
          </a:prstGeom>
          <a:solidFill>
            <a:srgbClr val="0D2137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9718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565C0"/>
                </a:solidFill>
              </a:rPr>
              <a:t>4.5 Yrs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34930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NAV 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411480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Individual Capstone  |  June 2026  |  Bluestock Fintech Pvt. Ltd.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452628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Prepared by: Intern / Data Analyst — Bluestock Fintech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2. Problem Statement &amp; Project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5 industry problems solved · 8 objectives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457200" cy="45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417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5389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D2137"/>
                </a:solidFill>
              </a:rPr>
              <a:t>Data Fragmentation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70992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</a:rPr>
              <a:t>NAV, AUM, SIP scattered — no unified DB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377440"/>
            <a:ext cx="457200" cy="45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377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41401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D2137"/>
                </a:solidFill>
              </a:rPr>
              <a:t>Performance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7004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</a:rPr>
              <a:t>Cannot compare funds risk-adjusted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337560"/>
            <a:ext cx="457200" cy="45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3337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37413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D2137"/>
                </a:solidFill>
              </a:rPr>
              <a:t>No Benchmark Tracking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63016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</a:rPr>
              <a:t>Investors don't know if fund beats Nifty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297680"/>
            <a:ext cx="457200" cy="45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297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33425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D2137"/>
                </a:solidFill>
              </a:rPr>
              <a:t>Investor Blind Spot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9028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</a:rPr>
              <a:t>No demographic/geo SIP visibility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257800"/>
            <a:ext cx="457200" cy="45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9437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D2137"/>
                </a:solidFill>
              </a:rPr>
              <a:t>Slow Reporting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55040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</a:rPr>
              <a:t>Static PDFs — need live dashboards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1417320"/>
            <a:ext cx="5669280" cy="5120640"/>
          </a:xfrm>
          <a:prstGeom prst="rect">
            <a:avLst/>
          </a:prstGeom>
          <a:solidFill>
            <a:srgbClr val="F1F5F9"/>
          </a:solidFill>
          <a:ln w="9525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14813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897B"/>
                </a:solidFill>
              </a:rPr>
              <a:t>8 Project Objectives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19202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D2137"/>
                </a:solidFill>
              </a:rPr>
              <a:t>✅ O1: Automated ETL pipeline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248716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D2137"/>
                </a:solidFill>
              </a:rPr>
              <a:t>✅ O2: 11-table SQLite star schema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05409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D2137"/>
                </a:solidFill>
              </a:rPr>
              <a:t>✅ O3: 15+ EDA charts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2102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D2137"/>
                </a:solidFill>
              </a:rPr>
              <a:t>✅ O4: Sharpe/Sortino/Alpha/Beta/VaR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18795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D2137"/>
                </a:solidFill>
              </a:rPr>
              <a:t>✅ O5: 4-page Streamlit dashboard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7548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D2137"/>
                </a:solidFill>
              </a:rPr>
              <a:t>✅ O6: Demographic &amp; geo analytics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532180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D2137"/>
                </a:solidFill>
              </a:rPr>
              <a:t>✅ O7: Fund vs benchmark comparison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588873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D2137"/>
                </a:solidFill>
              </a:rPr>
              <a:t>✅ O8: PDF report + PPTX presentation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Bluestock Fintech  |  Mutual Fund Analytics Capstone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12880" y="660196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3. Data Sources &amp; Datasets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10 datasets · sourced from AMFI India, mfapi.in, NSE/BSE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5486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5486400" cy="2926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63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01_fund_master.csv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59" y="1463040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176479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2137"/>
                </a:solidFill>
              </a:rPr>
              <a:t>40 schemes — AMFI codes, fund house, risk grade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441448"/>
            <a:ext cx="5486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441448"/>
            <a:ext cx="5486400" cy="2926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2487168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02_nav_history.csv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248716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</a:rPr>
              <a:t>~46K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" y="278892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2137"/>
                </a:solidFill>
              </a:rPr>
              <a:t>Daily NAV Jan 2022–May 2026, real mfapi.in anchors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465576"/>
            <a:ext cx="5486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465576"/>
            <a:ext cx="5486400" cy="2926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3511296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03_aum_by_fund_house.csv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59" y="3511296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</a:rPr>
              <a:t>~90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3813048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2137"/>
                </a:solidFill>
              </a:rPr>
              <a:t>Quarterly AUM for 10 AMCs — real AMFI data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489704"/>
            <a:ext cx="5486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4489704"/>
            <a:ext cx="5486400" cy="2926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" y="4535424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04_monthly_sip_inflows.csv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59" y="4535424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</a:rPr>
              <a:t>48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" y="4837176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2137"/>
                </a:solidFill>
              </a:rPr>
              <a:t>SIP inflow, accounts, AUM — AMFI Monthly Notes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513832"/>
            <a:ext cx="5486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5513832"/>
            <a:ext cx="5486400" cy="2926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5559552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05_category_inflows.csv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359" y="5559552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</a:rPr>
              <a:t>~144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" y="5861304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2137"/>
                </a:solidFill>
              </a:rPr>
              <a:t>Net inflows by category FY 2024-25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1417320"/>
            <a:ext cx="5486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63640" y="1417320"/>
            <a:ext cx="5486400" cy="2926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36792" y="1463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06_industry_folio_count.csv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1463040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</a:rPr>
              <a:t>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6792" y="176479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2137"/>
                </a:solidFill>
              </a:rPr>
              <a:t>Folios: Equity, Debt, Hybrid breakdown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2441448"/>
            <a:ext cx="5486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63640" y="2441448"/>
            <a:ext cx="5486400" cy="2926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6792" y="2487168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07_scheme_performance.csv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12680" y="248716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</a:rPr>
              <a:t>40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6792" y="278892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2137"/>
                </a:solidFill>
              </a:rPr>
              <a:t>CAGR, Sharpe, Sortino, Alpha, Beta, MaxDD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465576"/>
            <a:ext cx="5486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63640" y="3465576"/>
            <a:ext cx="5486400" cy="2926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36792" y="3511296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08_investor_transactions.csv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12680" y="3511296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</a:rPr>
              <a:t>~32K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36792" y="3813048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2137"/>
                </a:solidFill>
              </a:rPr>
              <a:t>SIP+Lumpsum+Redemption — 5,000 investors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4489704"/>
            <a:ext cx="5486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63640" y="4489704"/>
            <a:ext cx="5486400" cy="2926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36792" y="4535424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09_portfolio_holdings.csv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12680" y="4535424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</a:rPr>
              <a:t>~320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36792" y="4837176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2137"/>
                </a:solidFill>
              </a:rPr>
              <a:t>Top equity holdings per fund, Dec 2025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5513832"/>
            <a:ext cx="5486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63640" y="5513832"/>
            <a:ext cx="5486400" cy="2926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36792" y="5559552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10_benchmark_indices.csv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5559552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</a:rPr>
              <a:t>~8K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36792" y="5861304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2137"/>
                </a:solidFill>
              </a:rPr>
              <a:t>Nifty 50/100/Midcap150, BSE SmallCap daily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432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Bluestock Fintech  |  Mutual Fund Analytics Capstone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612880" y="660196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4. System Architecture — 5-Layer ETL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2194560" cy="25603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EXTRACT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965960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mfapi.in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77440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AMFI CSV files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NSE/BSE Bhavcopy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237744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1371600"/>
            <a:ext cx="2194560" cy="256032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TRANSFORM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1965960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Pandas cleaning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377440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NAV ffill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788920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Daily returns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237744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0" y="1371600"/>
            <a:ext cx="2194560" cy="2560320"/>
          </a:xfrm>
          <a:prstGeom prst="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LOAD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965960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SQLite star schema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2377440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11 tables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2788920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88K+ rows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237744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1371600"/>
            <a:ext cx="2194560" cy="25603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ANALYSE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0" y="1965960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CAGR·Sharpe·VaR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0" y="2377440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Alpha·Beta·HHI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2788920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Monte Carlo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237744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84080" y="1371600"/>
            <a:ext cx="2194560" cy="256032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VISUALISE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1965960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Streamlit 4 pages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2377440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17 charts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2788920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Fund scorecard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4114800"/>
            <a:ext cx="11612880" cy="2423160"/>
          </a:xfrm>
          <a:prstGeom prst="rect">
            <a:avLst/>
          </a:prstGeom>
          <a:solidFill>
            <a:srgbClr val="F1F5F9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17880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565C0"/>
                </a:solidFill>
              </a:rPr>
              <a:t>Database Star Schema — 11 Tables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572000"/>
            <a:ext cx="187451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0624" y="4626864"/>
            <a:ext cx="118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D2137"/>
                </a:solidFill>
              </a:rPr>
              <a:t>dim_fund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7631" y="462686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1565C0"/>
                </a:solidFill>
              </a:rPr>
              <a:t>40 rows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331720" y="4572000"/>
            <a:ext cx="187451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86584" y="4626864"/>
            <a:ext cx="118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D2137"/>
                </a:solidFill>
              </a:rPr>
              <a:t>dim_date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3591" y="462686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1565C0"/>
                </a:solidFill>
              </a:rPr>
              <a:t>1,648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7680" y="4572000"/>
            <a:ext cx="187451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52544" y="4626864"/>
            <a:ext cx="118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D2137"/>
                </a:solidFill>
              </a:rPr>
              <a:t>fact_nav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59552" y="462686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1565C0"/>
                </a:solidFill>
              </a:rPr>
              <a:t>46K+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4572000"/>
            <a:ext cx="187451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18503" y="4626864"/>
            <a:ext cx="118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D2137"/>
                </a:solidFill>
              </a:rPr>
              <a:t>fact_transactions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25512" y="462686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1565C0"/>
                </a:solidFill>
              </a:rPr>
              <a:t>32K+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0" y="4572000"/>
            <a:ext cx="187451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84464" y="4626864"/>
            <a:ext cx="118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D2137"/>
                </a:solidFill>
              </a:rPr>
              <a:t>fact_performance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91472" y="462686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1565C0"/>
                </a:solidFill>
              </a:rPr>
              <a:t>40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195560" y="4572000"/>
            <a:ext cx="187451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50424" y="4626864"/>
            <a:ext cx="118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D2137"/>
                </a:solidFill>
              </a:rPr>
              <a:t>fact_portfolio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457432" y="462686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1565C0"/>
                </a:solidFill>
              </a:rPr>
              <a:t>322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5257800"/>
            <a:ext cx="187451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624" y="5312664"/>
            <a:ext cx="118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D2137"/>
                </a:solidFill>
              </a:rPr>
              <a:t>fact_aum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27631" y="531266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1565C0"/>
                </a:solidFill>
              </a:rPr>
              <a:t>90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31720" y="5257800"/>
            <a:ext cx="187451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386584" y="5312664"/>
            <a:ext cx="118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D2137"/>
                </a:solidFill>
              </a:rPr>
              <a:t>fact_sip_industry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3591" y="531266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1565C0"/>
                </a:solidFill>
              </a:rPr>
              <a:t>48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297680" y="5257800"/>
            <a:ext cx="187451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52544" y="5312664"/>
            <a:ext cx="118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D2137"/>
                </a:solidFill>
              </a:rPr>
              <a:t>fact_benchmarks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559552" y="531266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1565C0"/>
                </a:solidFill>
              </a:rPr>
              <a:t>8K+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63640" y="5257800"/>
            <a:ext cx="187451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18503" y="5312664"/>
            <a:ext cx="118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D2137"/>
                </a:solidFill>
              </a:rPr>
              <a:t>fact_category_inflows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25512" y="531266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1565C0"/>
                </a:solidFill>
              </a:rPr>
              <a:t>144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29600" y="5257800"/>
            <a:ext cx="187451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84464" y="5312664"/>
            <a:ext cx="118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D2137"/>
                </a:solidFill>
              </a:rPr>
              <a:t>fact_folio_count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91472" y="531266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1565C0"/>
                </a:solidFill>
              </a:rPr>
              <a:t>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432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Bluestock Fintech  |  Mutual Fund Analytics Capstone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612880" y="660196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5. EDA Highlights — NAV Trends &amp; AUM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Day 3 · 15 publication-quality charts</a:t>
            </a:r>
          </a:p>
        </p:txBody>
      </p:sp>
      <p:pic>
        <p:nvPicPr>
          <p:cNvPr id="6" name="Picture 5" descr="01_nav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7406640" cy="3794760"/>
          </a:xfrm>
          <a:prstGeom prst="rect">
            <a:avLst/>
          </a:prstGeom>
        </p:spPr>
      </p:pic>
      <p:pic>
        <p:nvPicPr>
          <p:cNvPr id="7" name="Picture 6" descr="02_aum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371600"/>
            <a:ext cx="4069080" cy="3794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5285232"/>
            <a:ext cx="7406640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5349240"/>
            <a:ext cx="7040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65C0"/>
                </a:solidFill>
              </a:rPr>
              <a:t>NAV Trend Insights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687568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Small/Mid cap: +180–240% | Large cap: +90–120% (2022–2026)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03504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SBI Bluechip outperforms consistently | High correlation among large cap peers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18120" y="5285232"/>
            <a:ext cx="4069080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09560" y="5349240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0897B"/>
                </a:solidFill>
              </a:rPr>
              <a:t>AUM Insights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568756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SBI MF: ₹12.5L Cr (15.4% share)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603504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Industry AUM doubled 2022–2025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Bluestock Fintech  |  Mutual Fund Analytics Capstone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0" y="660196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6. EDA Highlights — SIP Trends, Demographics &amp; Correlation</a:t>
            </a:r>
          </a:p>
        </p:txBody>
      </p:sp>
      <p:pic>
        <p:nvPicPr>
          <p:cNvPr id="5" name="Picture 4" descr="03_sip_in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5852160" cy="2651760"/>
          </a:xfrm>
          <a:prstGeom prst="rect">
            <a:avLst/>
          </a:prstGeom>
        </p:spPr>
      </p:pic>
      <p:pic>
        <p:nvPicPr>
          <p:cNvPr id="6" name="Picture 5" descr="09_sector_allo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5394960" cy="2651760"/>
          </a:xfrm>
          <a:prstGeom prst="rect">
            <a:avLst/>
          </a:prstGeom>
        </p:spPr>
      </p:pic>
      <p:pic>
        <p:nvPicPr>
          <p:cNvPr id="7" name="Picture 6" descr="05_demographi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160520"/>
            <a:ext cx="5852160" cy="2423160"/>
          </a:xfrm>
          <a:prstGeom prst="rect">
            <a:avLst/>
          </a:prstGeom>
        </p:spPr>
      </p:pic>
      <p:pic>
        <p:nvPicPr>
          <p:cNvPr id="8" name="Picture 7" descr="08_correlation_matr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160520"/>
            <a:ext cx="5394960" cy="2423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3995928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D2137"/>
                </a:solidFill>
              </a:rPr>
              <a:t>SIP ATH ₹31,002 Cr Dec 2025 (+148% since Jan 2022)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995928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D2137"/>
                </a:solidFill>
              </a:rPr>
              <a:t>Sector: Fin Svcs 22% | IT 16% | Energy 12%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Bluestock Fintech  |  Mutual Fund Analytics Capstone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2880" y="660196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7. Fund Performance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CAGR · Sharpe · Sortino · Alpha · Beta · Composite Scorecard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5303520" cy="3154680"/>
          </a:xfrm>
          <a:prstGeom prst="rect">
            <a:avLst/>
          </a:prstGeom>
          <a:solidFill>
            <a:srgbClr val="F1F5F9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356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565C0"/>
                </a:solidFill>
              </a:rPr>
              <a:t>Risk-Return Formulae  (Rf = 6.5%/252)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7451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D2137"/>
                </a:solidFill>
              </a:rPr>
              <a:t>CAGR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87451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</a:rPr>
              <a:t>(NAV_end/NAV_start)^(252/n)−1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221991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D2137"/>
                </a:solidFill>
              </a:rPr>
              <a:t>Sharpe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221991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</a:rPr>
              <a:t>(Rp−Rf)/σ × √252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569463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D2137"/>
                </a:solidFill>
              </a:rPr>
              <a:t>Sortino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569463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</a:rPr>
              <a:t>(Rp−Rf)/σ_down × √252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1693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D2137"/>
                </a:solidFill>
              </a:rPr>
              <a:t>Alpha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291693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</a:rPr>
              <a:t>OLS intercept × 252  vs Nifty 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26440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D2137"/>
                </a:solidFill>
              </a:rPr>
              <a:t>Beta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32644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</a:rPr>
              <a:t>OLS slope  vs Nifty 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6118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D2137"/>
                </a:solidFill>
              </a:rPr>
              <a:t>VaR 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61187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</a:rPr>
              <a:t>5th pct of daily returns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9593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D2137"/>
                </a:solidFill>
              </a:rPr>
              <a:t>CVaR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39593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</a:rPr>
              <a:t>Mean return below VaR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30682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D2137"/>
                </a:solidFill>
              </a:rPr>
              <a:t>MaxDD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43068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</a:rPr>
              <a:t>min(NAV/cummax−1)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06440" y="1371600"/>
            <a:ext cx="6080760" cy="3154680"/>
          </a:xfrm>
          <a:prstGeom prst="rect">
            <a:avLst/>
          </a:prstGeom>
          <a:solidFill>
            <a:srgbClr val="F1F5F9"/>
          </a:solidFill>
          <a:ln w="9525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97880" y="143560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00897B"/>
                </a:solidFill>
              </a:rPr>
              <a:t>Fund Scorecard — Top 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97880" y="18470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565C0"/>
                </a:solidFill>
              </a:rPr>
              <a:t>Fund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84708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565C0"/>
                </a:solidFill>
              </a:rPr>
              <a:t>3yr%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52760" y="1847088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565C0"/>
                </a:solidFill>
              </a:rPr>
              <a:t>Sharpe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18470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565C0"/>
                </a:solidFill>
              </a:rPr>
              <a:t>Score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0" y="2176272"/>
            <a:ext cx="5943600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97880" y="2212848"/>
            <a:ext cx="37490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D2137"/>
                </a:solidFill>
              </a:rPr>
              <a:t>Mirae Asset Large Cap Fund - 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2128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00897B"/>
                </a:solidFill>
              </a:rPr>
              <a:t>32.6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52760" y="22128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0D2137"/>
                </a:solidFill>
              </a:rPr>
              <a:t>1.448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84280" y="2212848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565C0"/>
                </a:solidFill>
              </a:rPr>
              <a:t>82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52160" y="2468879"/>
            <a:ext cx="59436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97880" y="2505456"/>
            <a:ext cx="37490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D2137"/>
                </a:solidFill>
              </a:rPr>
              <a:t>SBI Bluechip Fund - Regular Pl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250545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00897B"/>
                </a:solidFill>
              </a:rPr>
              <a:t>29.2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52760" y="250545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0D2137"/>
                </a:solidFill>
              </a:rPr>
              <a:t>1.208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84280" y="2505456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565C0"/>
                </a:solidFill>
              </a:rPr>
              <a:t>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52160" y="2761488"/>
            <a:ext cx="5943600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97880" y="2798064"/>
            <a:ext cx="37490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D2137"/>
                </a:solidFill>
              </a:rPr>
              <a:t>Axis Midcap Fund - Regular - 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2640" y="27980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00897B"/>
                </a:solidFill>
              </a:rPr>
              <a:t>33.6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52760" y="27980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0D2137"/>
                </a:solidFill>
              </a:rPr>
              <a:t>0.998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84280" y="2798064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565C0"/>
                </a:solidFill>
              </a:rPr>
              <a:t>81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52160" y="3054096"/>
            <a:ext cx="59436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97880" y="3090672"/>
            <a:ext cx="37490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D2137"/>
                </a:solidFill>
              </a:rPr>
              <a:t>ICICI Pru Midcap Fund - Regula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92640" y="3090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00897B"/>
                </a:solidFill>
              </a:rPr>
              <a:t>30.4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52760" y="3090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0D2137"/>
                </a:solidFill>
              </a:rPr>
              <a:t>1.180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3090672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565C0"/>
                </a:solidFill>
              </a:rPr>
              <a:t>79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52160" y="3346704"/>
            <a:ext cx="5943600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97880" y="3383280"/>
            <a:ext cx="37490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D2137"/>
                </a:solidFill>
              </a:rPr>
              <a:t>HDFC Mid-Cap Opportunities Fun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92640" y="33832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00897B"/>
                </a:solidFill>
              </a:rPr>
              <a:t>31.1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52760" y="33832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0D2137"/>
                </a:solidFill>
              </a:rPr>
              <a:t>1.094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84280" y="3383280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565C0"/>
                </a:solidFill>
              </a:rPr>
              <a:t>78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52160" y="3639312"/>
            <a:ext cx="59436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897880" y="3675887"/>
            <a:ext cx="37490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D2137"/>
                </a:solidFill>
              </a:rPr>
              <a:t>Mirae Asset Tax Saver Fund - 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92640" y="3675887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00897B"/>
                </a:solidFill>
              </a:rPr>
              <a:t>28.0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3675887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0D2137"/>
                </a:solidFill>
              </a:rPr>
              <a:t>1.235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384280" y="3675887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565C0"/>
                </a:solidFill>
              </a:rPr>
              <a:t>76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52160" y="3931920"/>
            <a:ext cx="5943600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897880" y="3968496"/>
            <a:ext cx="37490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D2137"/>
                </a:solidFill>
              </a:rPr>
              <a:t>ICICI Pru Bluechip Fund - Dire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92640" y="39684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00897B"/>
                </a:solidFill>
              </a:rPr>
              <a:t>31.1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52760" y="39684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0D2137"/>
                </a:solidFill>
              </a:rPr>
              <a:t>1.026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84280" y="3968496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565C0"/>
                </a:solidFill>
              </a:rPr>
              <a:t>76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852160" y="4224528"/>
            <a:ext cx="59436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897880" y="4261104"/>
            <a:ext cx="37490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D2137"/>
                </a:solidFill>
              </a:rPr>
              <a:t>Kotak Flexicap Fund - Regular 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42611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00897B"/>
                </a:solidFill>
              </a:rPr>
              <a:t>28.4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52760" y="42611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0D2137"/>
                </a:solidFill>
              </a:rPr>
              <a:t>1.307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84280" y="4261104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565C0"/>
                </a:solidFill>
              </a:rPr>
              <a:t>76</a:t>
            </a:r>
          </a:p>
        </p:txBody>
      </p:sp>
      <p:pic>
        <p:nvPicPr>
          <p:cNvPr id="70" name="Picture 69" descr="11_fund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663440"/>
            <a:ext cx="5303520" cy="1920240"/>
          </a:xfrm>
          <a:prstGeom prst="rect">
            <a:avLst/>
          </a:prstGeom>
        </p:spPr>
      </p:pic>
      <p:pic>
        <p:nvPicPr>
          <p:cNvPr id="71" name="Picture 70" descr="14_max_draw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4663440"/>
            <a:ext cx="6080760" cy="1920240"/>
          </a:xfrm>
          <a:prstGeom prst="rect">
            <a:avLst/>
          </a:prstGeom>
        </p:spPr>
      </p:pic>
      <p:sp>
        <p:nvSpPr>
          <p:cNvPr id="72" name="Rectangle 7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7432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Bluestock Fintech  |  Mutual Fund Analytics Capstone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612880" y="660196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8. Benchmark Comparison &amp; Risk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Alpha · Beta · Rolling Sharpe · Max Drawdown · VaR</a:t>
            </a:r>
          </a:p>
        </p:txBody>
      </p:sp>
      <p:pic>
        <p:nvPicPr>
          <p:cNvPr id="6" name="Picture 5" descr="13_benchmark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7315200" cy="3246120"/>
          </a:xfrm>
          <a:prstGeom prst="rect">
            <a:avLst/>
          </a:prstGeom>
        </p:spPr>
      </p:pic>
      <p:pic>
        <p:nvPicPr>
          <p:cNvPr id="7" name="Picture 6" descr="12_rolling_shar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17320"/>
            <a:ext cx="4069080" cy="3246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4800600"/>
            <a:ext cx="7315200" cy="1691640"/>
          </a:xfrm>
          <a:prstGeom prst="rect">
            <a:avLst/>
          </a:prstGeom>
          <a:solidFill>
            <a:srgbClr val="F1F5F9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486460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565C0"/>
                </a:solidFill>
              </a:rPr>
              <a:t>Alpha &amp; Benchmark Insights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23036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38/40 funds generated positive alpha vs Nifty 100 (3yr window)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557784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SBI Bluechip &amp; HDFC Top 100 consistently outperform benchmark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5925312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Tracking error &lt; 5% for all Large Cap Direct funds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18120" y="4800600"/>
            <a:ext cx="4069080" cy="1691640"/>
          </a:xfrm>
          <a:prstGeom prst="rect">
            <a:avLst/>
          </a:prstGeom>
          <a:solidFill>
            <a:srgbClr val="F1F5F9"/>
          </a:solidFill>
          <a:ln w="9525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486460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897B"/>
                </a:solidFill>
              </a:rPr>
              <a:t>Rolling Sharpe Insights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523036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Sharpe &gt; 1.0 during 2023–24 bull run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557784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Dipped &lt; 0.8 in mid-2024 correction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592531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Recovered &gt; 1.0 for most funds by 2025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Bluestock Fintech  |  Mutual Fund Analytics Capstone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12880" y="660196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9. Interactive Streamlit Dashboard  (Bonus B2)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4 pages · live from SQLite · sidebar filters · streamlit run dashboard/app.py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5577840" cy="2514600"/>
          </a:xfrm>
          <a:prstGeom prst="rect">
            <a:avLst/>
          </a:prstGeom>
          <a:solidFill>
            <a:srgbClr val="F1F5F9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5577840" cy="4114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3560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🏠 Industry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90195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KPI: AUM ₹81L Cr | SIP ₹31K Cr | Folios 26.12Cr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32257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AUM grouped bar chart by fund house (2022–2025)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74320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Folio count stacked area growth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577840" cy="2514600"/>
          </a:xfrm>
          <a:prstGeom prst="rect">
            <a:avLst/>
          </a:prstGeom>
          <a:solidFill>
            <a:srgbClr val="F1F5F9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5577840" cy="4114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79" y="143560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📈 Fund Performance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90195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Risk-return scatter (bubble size = AUM)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2257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NAV vs Nifty 100 dual-line chart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74320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Sortable fund scorecard table  |  Filters: Fund House, Category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114800"/>
            <a:ext cx="5577840" cy="2514600"/>
          </a:xfrm>
          <a:prstGeom prst="rect">
            <a:avLst/>
          </a:prstGeom>
          <a:solidFill>
            <a:srgbClr val="F1F5F9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4114800"/>
            <a:ext cx="5577840" cy="4114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17880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👥 Investor Analytics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79" y="464515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SIP amount by state horizontal bar chart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79" y="506577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Age group vs avg SIP box plot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79" y="548640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SIP/Lumpsum/Redemption donut  |  Filters: State, 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114800"/>
            <a:ext cx="5577840" cy="2514600"/>
          </a:xfrm>
          <a:prstGeom prst="rect">
            <a:avLst/>
          </a:prstGeom>
          <a:solidFill>
            <a:srgbClr val="F1F5F9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4114800"/>
            <a:ext cx="5577840" cy="4114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79" y="417880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📊 SIP &amp; Market Trends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64515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SIP inflow (bar) + Nifty 50 (line) dual-axis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06577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Category inflows heatmap by month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48640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Top-5 categories by net inflow FY25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6400800"/>
            <a:ext cx="11612880" cy="292608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428232"/>
            <a:ext cx="10972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▶  streamlit run dashboard/app.py   →   http://localhost:8501   |   Python 3.10+   |   pip install -r requirements.txt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Bluestock Fintech  |  Mutual Fund Analytics Capstone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612880" y="660196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10. Bonus Analytics — Monte Carlo (B3) &amp; Efficient Frontier (B4)</a:t>
            </a:r>
          </a:p>
        </p:txBody>
      </p:sp>
      <p:pic>
        <p:nvPicPr>
          <p:cNvPr id="5" name="Picture 4" descr="B3_monte_car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5669280" cy="3520440"/>
          </a:xfrm>
          <a:prstGeom prst="rect">
            <a:avLst/>
          </a:prstGeom>
        </p:spPr>
      </p:pic>
      <p:pic>
        <p:nvPicPr>
          <p:cNvPr id="6" name="Picture 5" descr="B4_efficient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371600"/>
            <a:ext cx="5760720" cy="3520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029200"/>
            <a:ext cx="5669280" cy="1554480"/>
          </a:xfrm>
          <a:prstGeom prst="rect">
            <a:avLst/>
          </a:prstGeom>
          <a:solidFill>
            <a:srgbClr val="F1F5F9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09320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565C0"/>
                </a:solidFill>
              </a:rPr>
              <a:t>Monte Carlo — SBI Bluechip  (B3)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4681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GBM: dS = μS·dt + σS·dW  |  1,000 simulations  |  5 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81558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Median projected NAV: ~2.3× current  |  Bear: 1.5× current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16305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P(NAV doubles in 5yr): ~62%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5029200"/>
            <a:ext cx="5760720" cy="1554480"/>
          </a:xfrm>
          <a:prstGeom prst="rect">
            <a:avLst/>
          </a:prstGeom>
          <a:solidFill>
            <a:srgbClr val="F1F5F9"/>
          </a:solidFill>
          <a:ln w="9525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509320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897B"/>
                </a:solidFill>
              </a:rPr>
              <a:t>Markowitz Efficient Frontier  (B4)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546811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12,000 random portfolios  |  5 funds optimised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5815584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Max-Sharpe: HDFC Top100 34% + SBI Bluechip 28%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6163056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• Optimal Sharpe: 1.37  |  Return: 15.2%  |  Vol: 11.8%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Bluestock Fintech  |  Mutual Fund Analytics Capstone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0" y="660196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11. Key Findings &amp; Recommendations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577840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447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565C0"/>
                </a:solidFill>
              </a:rPr>
              <a:t>📈 Best Risk-Adj. Fund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828800"/>
            <a:ext cx="5303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Mirae Asset Large Cap Direct: Score 82/100 · Sharpe 1.45 · MaxDD −11.2% — ideal for moderate long-term investors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371600"/>
            <a:ext cx="5577840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79" y="14447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00897B"/>
                </a:solidFill>
              </a:rPr>
              <a:t>💰 SIP Momentum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79" y="1828800"/>
            <a:ext cx="5303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SIP inflows hit ATH ₹31,002 Cr Dec 2025 — up 148% from Jan 2022; 9.35 Cr active accounts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670048"/>
            <a:ext cx="5577840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F451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7432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F4511E"/>
                </a:solidFill>
              </a:rPr>
              <a:t>⚠️  At-Risk SIPs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127248"/>
            <a:ext cx="5303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~8% investors show SIP gap &gt;35 days — proactive nudge campaigns could prevent discontinuation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670048"/>
            <a:ext cx="5577840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79" y="27432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F9A825"/>
                </a:solidFill>
              </a:rPr>
              <a:t>🏙️  B30 Opportunity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79" y="3127248"/>
            <a:ext cx="5303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B30 cities = only 32% of SIP value vs 45%+ addressable population — huge untapped growth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968496"/>
            <a:ext cx="5577840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F451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F4511E"/>
                </a:solidFill>
              </a:rPr>
              <a:t>🔴 Small Cap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425696"/>
            <a:ext cx="5303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VaR(95%) = −3.2%/day — only suitable for 5yr+ horizon, high risk tolerance investors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968496"/>
            <a:ext cx="5577840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79" y="40416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00897B"/>
                </a:solidFill>
              </a:rPr>
              <a:t>📊 Diversification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79" y="4425696"/>
            <a:ext cx="5303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Large cap funds corr &gt;0.85 — add Debt/Hybrid for true portfolio diversification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266944"/>
            <a:ext cx="5577840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534009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565C0"/>
                </a:solidFill>
              </a:rPr>
              <a:t>💳 Go Direct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5724144"/>
            <a:ext cx="5303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Direct plans deliver 0.5–1.0% higher return/yr — compounding impact is significant over 10yr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5266944"/>
            <a:ext cx="5577840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79" y="534009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7B1FA2"/>
                </a:solidFill>
              </a:rPr>
              <a:t>🎯 Optimal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79" y="5724144"/>
            <a:ext cx="5303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D2137"/>
                </a:solidFill>
              </a:rPr>
              <a:t>Max-Sharpe allocation: HDFC Top100 34% + SBI Bluechip 28% — best risk-adjusted mix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Bluestock Fintech  |  Mutual Fund Analytics Capstone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0" y="660196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2188952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31920"/>
            <a:ext cx="12188952" cy="640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94360"/>
            <a:ext cx="121889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691640"/>
            <a:ext cx="121889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B0C4DE"/>
                </a:solidFill>
              </a:rPr>
              <a:t>Bluestock Fintech  |  Mutual Fund Analytics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267712"/>
            <a:ext cx="12188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Capstone Project  |  June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3108960"/>
            <a:ext cx="2697480" cy="1280160"/>
          </a:xfrm>
          <a:prstGeom prst="rect">
            <a:avLst/>
          </a:prstGeom>
          <a:solidFill>
            <a:srgbClr val="1A2B3C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3172968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565C0"/>
                </a:solidFill>
              </a:rPr>
              <a:t>📂 GitHub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584448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</a:rPr>
              <a:t>github.com/[username]/
bluestock-mf-capstone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3108960"/>
            <a:ext cx="2697480" cy="1280160"/>
          </a:xfrm>
          <a:prstGeom prst="rect">
            <a:avLst/>
          </a:prstGeom>
          <a:solidFill>
            <a:srgbClr val="1A2B3C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172968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565C0"/>
                </a:solidFill>
              </a:rPr>
              <a:t>🚀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584448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</a:rPr>
              <a:t>streamlit run dashboard/app.py
localhost:8501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3108960"/>
            <a:ext cx="2697480" cy="1280160"/>
          </a:xfrm>
          <a:prstGeom prst="rect">
            <a:avLst/>
          </a:prstGeom>
          <a:solidFill>
            <a:srgbClr val="1A2B3C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0" y="3172968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565C0"/>
                </a:solidFill>
              </a:rPr>
              <a:t>📊 Data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3584448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</a:rPr>
              <a:t>amfiindia.com · mfapi.in
nseindia.com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617720"/>
            <a:ext cx="11430000" cy="1783080"/>
          </a:xfrm>
          <a:prstGeom prst="rect">
            <a:avLst/>
          </a:prstGeom>
          <a:solidFill>
            <a:srgbClr val="1A2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6634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All 7 Deliverables + 4 Bonus Challenges Completed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0749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✅ D1 ETL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0749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✅ D2 SQLite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50749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✅ D3 EDA Notebook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50749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✅ D4 Perf. Metrics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50749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✅ D5 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513831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✅ D6 Adv. 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5513831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✅ D7 Report+Slides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5513831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✅ B2 Streamlit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5513831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✅ B3 Monte Carlo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40" y="5513831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✅ B4 Eff. Frontier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0" y="6510528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</a:rPr>
              <a:t>Prepared by: Intern / Data Analyst — Bluestock Fintech Pvt. Ltd.   |   For educational purposes only. Not financial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