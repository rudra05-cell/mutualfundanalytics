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011644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062869" y="2915220"/>
            <a:ext cx="732650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 Name: Rudra Pawar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Topic: </a:t>
            </a:r>
            <a:r>
              <a:rPr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</a:t>
            </a:r>
            <a:endParaRPr lang="en-US" sz="2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1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60468" y="4284147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565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713" y="4375587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 Schemes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60468" y="4622475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565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278" y="4744592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65" y="5032609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565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713" y="515015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282" y="5431147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565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 Yrs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59" y="5576358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3" y="6561557"/>
            <a:ext cx="12188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Intern / Data Analyst — </a:t>
            </a:r>
            <a:r>
              <a:rPr sz="1100" b="0" dirty="0" err="1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</a:t>
            </a:r>
            <a:r>
              <a:rPr sz="1100" b="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2. Problem Statement &amp;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5 industry problems solved · 8 objectives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4572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538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2137"/>
                </a:solidFill>
              </a:rPr>
              <a:t>Data Fragmentation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099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NAV, AUM, SIP scattered — no unified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77440"/>
            <a:ext cx="4572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140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2137"/>
                </a:solidFill>
              </a:rPr>
              <a:t>Performance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700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Cannot compare funds risk-adjusted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37560"/>
            <a:ext cx="4572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741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0D2137"/>
                </a:solidFill>
              </a:rPr>
              <a:t>No Benchmark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301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Investors don't know if fund beats Nifty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97680"/>
            <a:ext cx="4572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342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2137"/>
                </a:solidFill>
              </a:rPr>
              <a:t>Investor Blind Spot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902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No demographic/geo SIP visibility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57800"/>
            <a:ext cx="4572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943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2137"/>
                </a:solidFill>
              </a:rPr>
              <a:t>Slow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04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Static PDFs — need live dashboards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417320"/>
            <a:ext cx="5669280" cy="5120640"/>
          </a:xfrm>
          <a:prstGeom prst="rect">
            <a:avLst/>
          </a:prstGeom>
          <a:solidFill>
            <a:srgbClr val="F1F5F9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481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97B"/>
                </a:solidFill>
              </a:rPr>
              <a:t>8 Project Objectives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920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2137"/>
                </a:solidFill>
              </a:rPr>
              <a:t>✅ O1: Automated ETL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487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2137"/>
                </a:solidFill>
              </a:rPr>
              <a:t>✅ O2: 11-table SQLite star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0540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2137"/>
                </a:solidFill>
              </a:rPr>
              <a:t>✅ O3: 15+ EDA charts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621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2137"/>
                </a:solidFill>
              </a:rPr>
              <a:t>✅ O4: Sharpe/Sortino/Alpha/Beta/VaR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1879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2137"/>
                </a:solidFill>
              </a:rPr>
              <a:t>✅ O5: 4-page Streamlit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54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2137"/>
                </a:solidFill>
              </a:rPr>
              <a:t>✅ O6: Demographic &amp; geo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321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2137"/>
                </a:solidFill>
              </a:rPr>
              <a:t>✅ O7: Fund vs benchmark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8887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D2137"/>
                </a:solidFill>
              </a:rPr>
              <a:t>✅ O8: PDF report + PPTX presentation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3. Data Sources &amp;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10 datasets · sourced from AMFI India, mfapi.in, NSE/BSE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63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01_fund_master.csv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9" y="146304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647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40 schemes — AMFI codes, fund house, risk grade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41448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2441448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248716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02_nav_history.csv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4871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~46K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788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Daily NAV Jan 2022–May 2026, real mfapi.in anchors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65576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3465576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511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03_aum_by_fund_house.csv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59" y="351129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~90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8130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Quarterly AUM for 10 AMCs — real AMFI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9704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489704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4535424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04_monthly_sip_inflows.csv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59" y="453542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83717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SIP inflow, accounts, AUM — AMFI Monthly Notes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513832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5513832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555955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05_category_inflows.csv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59" y="555955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~144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586130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Net inflows by category FY 2024-25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417320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1417320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1463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06_industry_folio_count.csv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146304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17647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Folios: Equity, Debt, Hybrid breakdown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441448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2441448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248716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07_scheme_performance.csv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24871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2788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CAGR, Sharpe, Sortino, Alpha, Beta, MaxDD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465576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3465576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36792" y="3511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08_investor_transactions.csv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351129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~32K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38130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SIP+Lumpsum+Redemption — 5,000 investors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489704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63640" y="4489704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36792" y="4535424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09_portfolio_holdings.csv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453542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~320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6792" y="483717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Top equity holdings per fund, Dec 2025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513832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263640" y="5513832"/>
            <a:ext cx="54864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36792" y="555955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10_benchmark_indices.csv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555955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</a:rPr>
              <a:t>~8K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586130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137"/>
                </a:solidFill>
              </a:rPr>
              <a:t>Nifty 50/100/Midcap150, BSE SmallCap daily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4. System Architecture — 5-Layer ETL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94560" cy="2560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mfapi.in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AMFI CSV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NSE/BSE Bhavcopy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3774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71600"/>
            <a:ext cx="2194560" cy="25603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659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Pandas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77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NAV ffill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7889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Daily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3774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94560" cy="2560320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659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SQLite star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377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11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7889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88K+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3774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1371600"/>
            <a:ext cx="2194560" cy="2560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19659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CAGR·Sharpe·VaR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377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Alpha·Beta·HHI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7889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Monte Carlo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3774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371600"/>
            <a:ext cx="2194560" cy="25603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VISUALISE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19659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Streamlit 4 pages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3774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17 charts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7889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Fund scorecard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114800"/>
            <a:ext cx="11612880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178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Database Star Schema — 11 Tables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5720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46268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dim_fund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7631" y="46268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40 rows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45720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86584" y="46268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dim_date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3591" y="46268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1,648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5720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52544" y="46268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fact_nav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9552" y="46268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46K+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5720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18503" y="46268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fact_transactions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5512" y="46268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32K+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5720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84464" y="46268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fact_performance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91472" y="46268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95560" y="45720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50424" y="46268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fact_portfolio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57432" y="46268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322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2578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0624" y="53126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fact_aum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27631" y="5312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90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31720" y="52578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86584" y="53126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fact_sip_industry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93591" y="5312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48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52578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52544" y="53126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fact_benchmarks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9552" y="5312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8K+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52578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18503" y="53126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fact_category_inflows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5512" y="5312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144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5257800"/>
            <a:ext cx="18745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84464" y="53126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137"/>
                </a:solidFill>
              </a:rPr>
              <a:t>fact_folio_count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91472" y="5312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1565C0"/>
                </a:solidFill>
              </a:rPr>
              <a:t>21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 EDA Highlights — NAV Trends &amp; AUM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Day 3 · 15 publication-quality charts</a:t>
            </a:r>
          </a:p>
        </p:txBody>
      </p:sp>
      <p:pic>
        <p:nvPicPr>
          <p:cNvPr id="6" name="Picture 5" descr="01_nav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406640" cy="3794760"/>
          </a:xfrm>
          <a:prstGeom prst="rect">
            <a:avLst/>
          </a:prstGeom>
        </p:spPr>
      </p:pic>
      <p:pic>
        <p:nvPicPr>
          <p:cNvPr id="7" name="Picture 6" descr="02_aum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371600"/>
            <a:ext cx="4069080" cy="3794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285232"/>
            <a:ext cx="74066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34924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565C0"/>
                </a:solidFill>
              </a:rPr>
              <a:t>NAV Trend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687568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Small/Mid cap: +180–240% | Large cap: +90–120% (2022–2026)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03504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SBI Bluechip outperforms consistently | High correlation among large cap peers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5285232"/>
            <a:ext cx="406908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534924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897B"/>
                </a:solidFill>
              </a:rPr>
              <a:t>AUM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6875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SBI MF: ₹12.5L Cr (15.4% share)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60350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Industry AUM doubled 2022–2025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 EDA Highlights — SIP Trends, Demographics &amp; Correlation</a:t>
            </a:r>
          </a:p>
        </p:txBody>
      </p:sp>
      <p:pic>
        <p:nvPicPr>
          <p:cNvPr id="5" name="Picture 4" descr="03_sip_in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852160" cy="2651760"/>
          </a:xfrm>
          <a:prstGeom prst="rect">
            <a:avLst/>
          </a:prstGeom>
        </p:spPr>
      </p:pic>
      <p:pic>
        <p:nvPicPr>
          <p:cNvPr id="6" name="Picture 5" descr="09_sector_al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394960" cy="2651760"/>
          </a:xfrm>
          <a:prstGeom prst="rect">
            <a:avLst/>
          </a:prstGeom>
        </p:spPr>
      </p:pic>
      <p:pic>
        <p:nvPicPr>
          <p:cNvPr id="7" name="Picture 6" descr="05_demograph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160520"/>
            <a:ext cx="5852160" cy="2423160"/>
          </a:xfrm>
          <a:prstGeom prst="rect">
            <a:avLst/>
          </a:prstGeom>
        </p:spPr>
      </p:pic>
      <p:pic>
        <p:nvPicPr>
          <p:cNvPr id="8" name="Picture 7" descr="08_correlat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160520"/>
            <a:ext cx="539496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399592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SIP ATH ₹31,002 Cr Dec 2025 (+148% since Jan 2022)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99592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Sector: Fin Svcs 22% | IT 16% | Energy 12%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7. Fund Performance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CAGR · Sharpe · Sortino · Alpha · Beta · Composite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0" cy="315468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35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565C0"/>
                </a:solidFill>
              </a:rPr>
              <a:t>Risk-Return Formulae  (Rf = 6.5%/252)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137"/>
                </a:solidFill>
              </a:rPr>
              <a:t>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745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(NAV_end/NAV_start)^(252/n)−1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219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137"/>
                </a:solidFill>
              </a:rPr>
              <a:t>Sharpe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219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(Rp−Rf)/σ × √252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6946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137"/>
                </a:solidFill>
              </a:rPr>
              <a:t>Sortino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56946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(Rp−Rf)/σ_down × √252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169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137"/>
                </a:solidFill>
              </a:rPr>
              <a:t>Alpha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9169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OLS intercept × 252  vs Nifty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644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137"/>
                </a:solidFill>
              </a:rPr>
              <a:t>Beta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264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OLS slope  vs Nifty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11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137"/>
                </a:solidFill>
              </a:rPr>
              <a:t>VaR 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6118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5th pct of daily returns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59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137"/>
                </a:solidFill>
              </a:rPr>
              <a:t>CVaR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959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Mean return below 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068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137"/>
                </a:solidFill>
              </a:rPr>
              <a:t>MaxDD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068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min(NAV/cummax−1)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1371600"/>
            <a:ext cx="6080760" cy="3154680"/>
          </a:xfrm>
          <a:prstGeom prst="rect">
            <a:avLst/>
          </a:prstGeom>
          <a:solidFill>
            <a:srgbClr val="F1F5F9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97880" y="143560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897B"/>
                </a:solidFill>
              </a:rPr>
              <a:t>Fund Scorecard — Top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18470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565C0"/>
                </a:solidFill>
              </a:rPr>
              <a:t>Fund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8470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565C0"/>
                </a:solidFill>
              </a:rPr>
              <a:t>3yr%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184708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565C0"/>
                </a:solidFill>
              </a:rPr>
              <a:t>Sharpe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1847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565C0"/>
                </a:solidFill>
              </a:rPr>
              <a:t>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176272"/>
            <a:ext cx="5943600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97880" y="221284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Mirae Asset Large Cap Fund - 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2128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0897B"/>
                </a:solidFill>
              </a:rPr>
              <a:t>32.6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22128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D2137"/>
                </a:solidFill>
              </a:rPr>
              <a:t>1.448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221284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82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2468879"/>
            <a:ext cx="5943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97880" y="250545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SBI Bluechip Fund - Regular Pl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50545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0897B"/>
                </a:solidFill>
              </a:rPr>
              <a:t>29.2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250545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D2137"/>
                </a:solidFill>
              </a:rPr>
              <a:t>1.208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250545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81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2761488"/>
            <a:ext cx="5943600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97880" y="2798064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Axis Midcap Fund - Regular - 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27980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0897B"/>
                </a:solidFill>
              </a:rPr>
              <a:t>33.6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52760" y="27980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D2137"/>
                </a:solidFill>
              </a:rPr>
              <a:t>0.998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279806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81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3054096"/>
            <a:ext cx="5943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97880" y="309067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ICICI Pru Midcap Fund - Regula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090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0897B"/>
                </a:solidFill>
              </a:rPr>
              <a:t>30.4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52760" y="3090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D2137"/>
                </a:solidFill>
              </a:rPr>
              <a:t>1.180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3090672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79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3346704"/>
            <a:ext cx="5943600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97880" y="338328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HDFC Mid-Cap Opportunities Fun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33832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0897B"/>
                </a:solidFill>
              </a:rPr>
              <a:t>31.1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52760" y="33832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D2137"/>
                </a:solidFill>
              </a:rPr>
              <a:t>1.094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33832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78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52160" y="3639312"/>
            <a:ext cx="5943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97880" y="3675887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Mirae Asset Tax Saver Fund - 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3675887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0897B"/>
                </a:solidFill>
              </a:rPr>
              <a:t>28.0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60" y="3675887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D2137"/>
                </a:solidFill>
              </a:rPr>
              <a:t>1.235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84280" y="3675887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76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2160" y="3931920"/>
            <a:ext cx="5943600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897880" y="396849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ICICI Pru Bluechip Fund - Dire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39684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0897B"/>
                </a:solidFill>
              </a:rPr>
              <a:t>31.1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9684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D2137"/>
                </a:solidFill>
              </a:rPr>
              <a:t>1.026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84280" y="396849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76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52160" y="4224528"/>
            <a:ext cx="5943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97880" y="4261104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137"/>
                </a:solidFill>
              </a:rPr>
              <a:t>Kotak Flexicap Fund - Regular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2611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0897B"/>
                </a:solidFill>
              </a:rPr>
              <a:t>28.4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52760" y="42611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0D2137"/>
                </a:solidFill>
              </a:rPr>
              <a:t>1.307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84280" y="426110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76</a:t>
            </a:r>
          </a:p>
        </p:txBody>
      </p:sp>
      <p:pic>
        <p:nvPicPr>
          <p:cNvPr id="70" name="Picture 69" descr="11_fund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663440"/>
            <a:ext cx="5303520" cy="1920240"/>
          </a:xfrm>
          <a:prstGeom prst="rect">
            <a:avLst/>
          </a:prstGeom>
        </p:spPr>
      </p:pic>
      <p:pic>
        <p:nvPicPr>
          <p:cNvPr id="71" name="Picture 70" descr="14_max_dra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663440"/>
            <a:ext cx="6080760" cy="192024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8. Benchmark Comparison &amp; 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Alpha · Beta · Rolling Sharpe · Max Drawdown · VaR</a:t>
            </a:r>
          </a:p>
        </p:txBody>
      </p:sp>
      <p:pic>
        <p:nvPicPr>
          <p:cNvPr id="6" name="Picture 5" descr="13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315200" cy="3246120"/>
          </a:xfrm>
          <a:prstGeom prst="rect">
            <a:avLst/>
          </a:prstGeom>
        </p:spPr>
      </p:pic>
      <p:pic>
        <p:nvPicPr>
          <p:cNvPr id="7" name="Picture 6" descr="12_rolling_shar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17320"/>
            <a:ext cx="4069080" cy="3246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800600"/>
            <a:ext cx="73152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486460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Alpha &amp; Benchmark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2303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38/40 funds generated positive alpha vs Nifty 100 (3yr window)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5778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SBI Bluechip &amp; HDFC Top 100 consistently outperform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9253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Tracking error &lt; 5% for all Large Cap Direct funds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4800600"/>
            <a:ext cx="406908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4864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97B"/>
                </a:solidFill>
              </a:rPr>
              <a:t>Rolling Sharpe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2303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Sharpe &gt; 1.0 during 2023–24 bull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577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Dipped &lt; 0.8 in mid-2024 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925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Recovered &gt; 1.0 for most funds by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9. Interactive Streamlit Dashboard  (Bonus B2)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4 pages · live from SQLite · sidebar filters · streamlit run dashboard/app.py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577840" cy="251460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🏠 Industry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019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KPI: AUM ₹81L Cr | SIP ₹31K Cr | Folios 26.12Cr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3225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AUM grouped bar chart by fund house (2022–2025)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43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Folio count stacked area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577840" cy="251460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5778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1435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📈 Fund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019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Risk-return scatter (bubble size = AUM)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225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NAV vs Nifty 100 dual-line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Sortable fund scorecard table  |  Filters: Fund House, 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5577840" cy="251460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4114800"/>
            <a:ext cx="55778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4178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👥 Investor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6451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SIP amount by state horizontal bar chart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657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Age group vs avg SIP box plot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4864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SIP/Lumpsum/Redemption donut  |  Filters: State, 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114800"/>
            <a:ext cx="5577840" cy="251460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4114800"/>
            <a:ext cx="55778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79" y="4178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📊 SIP &amp; Market Trends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451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SIP inflow (bar) + Nifty 50 (line) dual-axis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657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Category inflows heatmap by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864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Top-5 categories by net inflow FY25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400800"/>
            <a:ext cx="11612880" cy="292608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42823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▶  streamlit run dashboard/app.py   →   http://localhost:8501   |   Python 3.10+   |   pip install -r requirements.txt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10. Bonus Analytics — Monte Carlo (B3) &amp; Efficient Frontier (B4)</a:t>
            </a:r>
          </a:p>
        </p:txBody>
      </p:sp>
      <p:pic>
        <p:nvPicPr>
          <p:cNvPr id="5" name="Picture 4" descr="B3_monte_car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3520440"/>
          </a:xfrm>
          <a:prstGeom prst="rect">
            <a:avLst/>
          </a:prstGeom>
        </p:spPr>
      </p:pic>
      <p:pic>
        <p:nvPicPr>
          <p:cNvPr id="6" name="Picture 5" descr="B4_efficient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760720" cy="3520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029200"/>
            <a:ext cx="5669280" cy="155448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50932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Monte Carlo — SBI Bluechip  (B3)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68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GBM: dS = μS·dt + σS·dW  |  1,000 simulations  |  5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8155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Median projected NAV: ~2.3× current  |  Bear: 1.5× 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1630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P(NAV doubles in 5yr): ~62%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5029200"/>
            <a:ext cx="5760720" cy="1554480"/>
          </a:xfrm>
          <a:prstGeom prst="rect">
            <a:avLst/>
          </a:prstGeom>
          <a:solidFill>
            <a:srgbClr val="F1F5F9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50932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97B"/>
                </a:solidFill>
              </a:rPr>
              <a:t>Markowitz Efficient Frontier  (B4)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4681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12,000 random portfolios  |  5 funds optimised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8155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Max-Sharpe: HDFC Top100 34% + SBI Bluechip 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6163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• Optimal Sharpe: 1.37  |  Return: 15.2%  |  Vol: 11.8%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11. Key Findings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5778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565C0"/>
                </a:solidFill>
              </a:rPr>
              <a:t>📈 Best Risk-Adj.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Mirae Asset Large Cap Direct: Score 82/100 · Sharpe 1.45 · MaxDD −11.2% — ideal for moderate long-term investors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5778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79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897B"/>
                </a:solidFill>
              </a:rPr>
              <a:t>💰 SIP Momentum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79" y="182880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SIP inflows hit ATH ₹31,002 Cr Dec 2025 — up 148% from Jan 2022; 9.35 Cr active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70048"/>
            <a:ext cx="55778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4511E"/>
                </a:solidFill>
              </a:rPr>
              <a:t>⚠️  At-Risk SIPs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27248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~8% investors show SIP gap &gt;35 days — proactive nudge campaigns could prevent discontinuation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670048"/>
            <a:ext cx="55778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79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9A825"/>
                </a:solidFill>
              </a:rPr>
              <a:t>🏙️  B30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3127248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B30 cities = only 32% of SIP value vs 45%+ addressable population — huge untapped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68496"/>
            <a:ext cx="55778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041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4511E"/>
                </a:solidFill>
              </a:rPr>
              <a:t>🔴 Small Cap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425696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VaR(95%) = −3.2%/day — only suitable for 5yr+ horizon, high risk tolerance investors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968496"/>
            <a:ext cx="55778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79" y="4041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897B"/>
                </a:solidFill>
              </a:rPr>
              <a:t>📊 Diversification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4425696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Large cap funds corr &gt;0.85 — add Debt/Hybrid for true portfolio diversification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266944"/>
            <a:ext cx="55778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3400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565C0"/>
                </a:solidFill>
              </a:rPr>
              <a:t>💳 Go Direct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724144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Direct plans deliver 0.5–1.0% higher return/yr — compounding impact is significant over 10yr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266944"/>
            <a:ext cx="557784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79" y="53400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7B1FA2"/>
                </a:solidFill>
              </a:rPr>
              <a:t>🎯 Optimal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5724144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2137"/>
                </a:solidFill>
              </a:rPr>
              <a:t>Max-Sharpe allocation: HDFC Top100 34% + SBI Bluechip 28% — best risk-adjusted mix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601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Bluestock Fintech  |  Mutual Fund Analytics Capstone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4517" y="674001"/>
            <a:ext cx="1218895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4800" b="1" dirty="0"/>
          </a:p>
          <a:p>
            <a:pPr algn="ctr"/>
            <a:endParaRPr lang="en-US" sz="4800" b="1" dirty="0"/>
          </a:p>
          <a:p>
            <a:pPr algn="ctr"/>
            <a:endParaRPr lang="en-US" sz="4800" b="1" dirty="0"/>
          </a:p>
          <a:p>
            <a:pPr algn="ctr"/>
            <a:r>
              <a:rPr sz="4800" b="1" dirty="0"/>
              <a:t>Thank</a:t>
            </a:r>
            <a:r>
              <a:rPr sz="4800" b="1" dirty="0">
                <a:solidFill>
                  <a:srgbClr val="FFFFFF"/>
                </a:solidFill>
              </a:rPr>
              <a:t> </a:t>
            </a:r>
            <a:r>
              <a:rPr sz="4800" b="1" dirty="0"/>
              <a:t>You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510528"/>
            <a:ext cx="1218895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dirty="0">
                <a:solidFill>
                  <a:srgbClr val="94A3B8"/>
                </a:solidFill>
              </a:rPr>
              <a:t>Prepared by: Intern / Data Analyst — </a:t>
            </a:r>
            <a:r>
              <a:rPr sz="850" b="0" dirty="0" err="1">
                <a:solidFill>
                  <a:srgbClr val="94A3B8"/>
                </a:solidFill>
              </a:rPr>
              <a:t>Bluestock</a:t>
            </a:r>
            <a:r>
              <a:rPr sz="850" b="0" dirty="0">
                <a:solidFill>
                  <a:srgbClr val="94A3B8"/>
                </a:solidFill>
              </a:rPr>
              <a:t> Fintech Pvt. Ltd.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1439</Words>
  <Application>Microsoft Office PowerPoint</Application>
  <PresentationFormat>Custom</PresentationFormat>
  <Paragraphs>265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rudrapawar2005@gmail.com</cp:lastModifiedBy>
  <cp:revision>4</cp:revision>
  <dcterms:created xsi:type="dcterms:W3CDTF">2013-01-27T09:14:16Z</dcterms:created>
  <dcterms:modified xsi:type="dcterms:W3CDTF">2026-06-13T16:56:37Z</dcterms:modified>
  <cp:category/>
</cp:coreProperties>
</file>